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63" r:id="rId12"/>
    <p:sldId id="264" r:id="rId13"/>
    <p:sldId id="265" r:id="rId14"/>
    <p:sldId id="266" r:id="rId15"/>
  </p:sldIdLst>
  <p:sldSz cx="18288000" cy="10287000"/>
  <p:notesSz cx="6858000" cy="9144000"/>
  <p:embeddedFontLst>
    <p:embeddedFont>
      <p:font typeface="Agbalumo" panose="020B0604020202020204" charset="0"/>
      <p:regular r:id="rId17"/>
    </p:embeddedFont>
    <p:embeddedFont>
      <p:font typeface="Alegreya Bold" panose="020B0604020202020204" charset="0"/>
      <p:regular r:id="rId18"/>
    </p:embeddedFont>
    <p:embeddedFont>
      <p:font typeface="Asap Condensed" panose="020B0604020202020204" charset="0"/>
      <p:regular r:id="rId19"/>
    </p:embeddedFont>
    <p:embeddedFont>
      <p:font typeface="Bahnschrift Light SemiCondensed" panose="020B0502040204020203" pitchFamily="34" charset="0"/>
      <p:regular r:id="rId20"/>
    </p:embeddedFont>
    <p:embeddedFont>
      <p:font typeface="Cabin Bold" panose="020B0604020202020204" charset="0"/>
      <p:regular r:id="rId21"/>
    </p:embeddedFont>
    <p:embeddedFont>
      <p:font typeface="Faustina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B3F"/>
    <a:srgbClr val="DC6F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E1C8E-E2E7-41F3-AB77-29D4427D142A}" v="32" dt="2026-01-04T15:04:35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3" autoAdjust="0"/>
    <p:restoredTop sz="94622" autoAdjust="0"/>
  </p:normalViewPr>
  <p:slideViewPr>
    <p:cSldViewPr>
      <p:cViewPr varScale="1">
        <p:scale>
          <a:sx n="52" d="100"/>
          <a:sy n="52" d="100"/>
        </p:scale>
        <p:origin x="1411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289DA-B368-4ADC-842E-A188D2846FA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66E7F-4635-4C8A-AB21-8A8B5CFA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8917" y="-252448"/>
            <a:ext cx="22052211" cy="7624317"/>
            <a:chOff x="0" y="0"/>
            <a:chExt cx="5807990" cy="20080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7990" cy="2008050"/>
            </a:xfrm>
            <a:custGeom>
              <a:avLst/>
              <a:gdLst/>
              <a:ahLst/>
              <a:cxnLst/>
              <a:rect l="l" t="t" r="r" b="b"/>
              <a:pathLst>
                <a:path w="5807990" h="2008050">
                  <a:moveTo>
                    <a:pt x="0" y="0"/>
                  </a:moveTo>
                  <a:lnTo>
                    <a:pt x="5807990" y="0"/>
                  </a:lnTo>
                  <a:lnTo>
                    <a:pt x="5807990" y="2008050"/>
                  </a:lnTo>
                  <a:lnTo>
                    <a:pt x="0" y="2008050"/>
                  </a:lnTo>
                  <a:close/>
                </a:path>
              </a:pathLst>
            </a:custGeom>
            <a:solidFill>
              <a:srgbClr val="AF323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07990" cy="204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4435799" y="811748"/>
            <a:ext cx="13990010" cy="549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87"/>
              </a:lnSpc>
            </a:pPr>
            <a:r>
              <a:rPr lang="en-US" sz="8072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THIẾT KẾ </a:t>
            </a:r>
          </a:p>
          <a:p>
            <a:pPr algn="r">
              <a:lnSpc>
                <a:spcPts val="15253"/>
              </a:lnSpc>
            </a:pPr>
            <a:r>
              <a:rPr lang="en-US" sz="12711" b="1">
                <a:solidFill>
                  <a:srgbClr val="FFFFFF"/>
                </a:solidFill>
                <a:latin typeface="Alegreya Bold"/>
                <a:ea typeface="Alegreya Bold"/>
                <a:cs typeface="Alegreya Bold"/>
                <a:sym typeface="Alegreya Bold"/>
              </a:rPr>
              <a:t>WEBSITE </a:t>
            </a:r>
          </a:p>
          <a:p>
            <a:pPr algn="r">
              <a:lnSpc>
                <a:spcPts val="18380"/>
              </a:lnSpc>
            </a:pPr>
            <a:r>
              <a:rPr lang="en-US" sz="15316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BÁN SÁCH</a:t>
            </a:r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9813857" y="0"/>
            <a:ext cx="10610984" cy="7521562"/>
            <a:chOff x="0" y="0"/>
            <a:chExt cx="8051247" cy="5707101"/>
          </a:xfrm>
        </p:grpSpPr>
        <p:sp>
          <p:nvSpPr>
            <p:cNvPr id="7" name="Freeform 7"/>
            <p:cNvSpPr/>
            <p:nvPr/>
          </p:nvSpPr>
          <p:spPr>
            <a:xfrm flipH="1" flipV="1">
              <a:off x="0" y="0"/>
              <a:ext cx="8049905" cy="5707101"/>
            </a:xfrm>
            <a:custGeom>
              <a:avLst/>
              <a:gdLst/>
              <a:ahLst/>
              <a:cxnLst/>
              <a:rect l="l" t="t" r="r" b="b"/>
              <a:pathLst>
                <a:path w="8049905" h="5707101">
                  <a:moveTo>
                    <a:pt x="1368712" y="5707101"/>
                  </a:moveTo>
                  <a:lnTo>
                    <a:pt x="6679851" y="5707101"/>
                  </a:lnTo>
                  <a:cubicBezTo>
                    <a:pt x="7436668" y="5707101"/>
                    <a:pt x="8049905" y="5099142"/>
                    <a:pt x="8049905" y="4348838"/>
                  </a:cubicBezTo>
                  <a:lnTo>
                    <a:pt x="8049905" y="684013"/>
                  </a:lnTo>
                  <a:cubicBezTo>
                    <a:pt x="8049905" y="502601"/>
                    <a:pt x="7977839" y="328620"/>
                    <a:pt x="7849562" y="200343"/>
                  </a:cubicBezTo>
                  <a:cubicBezTo>
                    <a:pt x="7721285" y="72065"/>
                    <a:pt x="7547303" y="0"/>
                    <a:pt x="7365892" y="0"/>
                  </a:cubicBezTo>
                  <a:lnTo>
                    <a:pt x="1370054" y="0"/>
                  </a:lnTo>
                  <a:cubicBezTo>
                    <a:pt x="613236" y="0"/>
                    <a:pt x="0" y="607959"/>
                    <a:pt x="0" y="1358264"/>
                  </a:cubicBezTo>
                  <a:lnTo>
                    <a:pt x="0" y="5023088"/>
                  </a:lnTo>
                  <a:cubicBezTo>
                    <a:pt x="0" y="5204499"/>
                    <a:pt x="72065" y="5378481"/>
                    <a:pt x="200343" y="5506758"/>
                  </a:cubicBezTo>
                  <a:cubicBezTo>
                    <a:pt x="328620" y="5635035"/>
                    <a:pt x="502601" y="5707101"/>
                    <a:pt x="684013" y="5707101"/>
                  </a:cubicBezTo>
                  <a:close/>
                </a:path>
              </a:pathLst>
            </a:custGeom>
            <a:blipFill>
              <a:blip r:embed="rId2"/>
              <a:stretch>
                <a:fillRect l="-22343" r="-2234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07627" y="307627"/>
            <a:ext cx="1442145" cy="1442145"/>
          </a:xfrm>
          <a:custGeom>
            <a:avLst/>
            <a:gdLst/>
            <a:ahLst/>
            <a:cxnLst/>
            <a:rect l="l" t="t" r="r" b="b"/>
            <a:pathLst>
              <a:path w="1442145" h="1442145">
                <a:moveTo>
                  <a:pt x="0" y="0"/>
                </a:moveTo>
                <a:lnTo>
                  <a:pt x="1442146" y="0"/>
                </a:lnTo>
                <a:lnTo>
                  <a:pt x="1442146" y="1442146"/>
                </a:lnTo>
                <a:lnTo>
                  <a:pt x="0" y="1442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71695" y="7521562"/>
            <a:ext cx="2478993" cy="2478993"/>
          </a:xfrm>
          <a:custGeom>
            <a:avLst/>
            <a:gdLst/>
            <a:ahLst/>
            <a:cxnLst/>
            <a:rect l="l" t="t" r="r" b="b"/>
            <a:pathLst>
              <a:path w="2478993" h="2478993">
                <a:moveTo>
                  <a:pt x="0" y="0"/>
                </a:moveTo>
                <a:lnTo>
                  <a:pt x="2478993" y="0"/>
                </a:lnTo>
                <a:lnTo>
                  <a:pt x="2478993" y="2478993"/>
                </a:lnTo>
                <a:lnTo>
                  <a:pt x="0" y="2478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1401" y="8119607"/>
            <a:ext cx="575342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D75B3F"/>
                </a:solidFill>
                <a:latin typeface="Faustina"/>
                <a:ea typeface="Faustina"/>
                <a:cs typeface="Faustina"/>
                <a:sym typeface="Faustina"/>
              </a:rPr>
              <a:t>GIẢNG VIÊN HƯỚNG DẪN:</a:t>
            </a:r>
          </a:p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D75B3F"/>
                </a:solidFill>
                <a:latin typeface="Faustina"/>
                <a:ea typeface="Faustina"/>
                <a:cs typeface="Faustina"/>
                <a:sym typeface="Faustina"/>
              </a:rPr>
              <a:t>NGUYỄN HOÀNG DUY THIỆN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4097" y="8158480"/>
            <a:ext cx="7498847" cy="102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D75B3F"/>
                </a:solidFill>
                <a:latin typeface="Faustina"/>
                <a:ea typeface="Faustina"/>
                <a:cs typeface="Faustina"/>
                <a:sym typeface="Faustina"/>
              </a:rPr>
              <a:t>SINH VIÊN THỰC HIỆN: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D75B3F"/>
                </a:solidFill>
                <a:latin typeface="Faustina"/>
                <a:ea typeface="Faustina"/>
                <a:cs typeface="Faustina"/>
                <a:sym typeface="Faustina"/>
              </a:rPr>
              <a:t>TRẦN VŨ NGỌC HUỲNH - 110123012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573246"/>
            <a:chOff x="0" y="0"/>
            <a:chExt cx="4816593" cy="941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41102"/>
            </a:xfrm>
            <a:custGeom>
              <a:avLst/>
              <a:gdLst/>
              <a:ahLst/>
              <a:cxnLst/>
              <a:rect l="l" t="t" r="r" b="b"/>
              <a:pathLst>
                <a:path w="4816592" h="941102">
                  <a:moveTo>
                    <a:pt x="0" y="0"/>
                  </a:moveTo>
                  <a:lnTo>
                    <a:pt x="4816592" y="0"/>
                  </a:lnTo>
                  <a:lnTo>
                    <a:pt x="4816592" y="941102"/>
                  </a:lnTo>
                  <a:lnTo>
                    <a:pt x="0" y="941102"/>
                  </a:lnTo>
                  <a:close/>
                </a:path>
              </a:pathLst>
            </a:custGeom>
            <a:solidFill>
              <a:srgbClr val="AF323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79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26510" y="847725"/>
            <a:ext cx="15511603" cy="164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0"/>
              </a:lnSpc>
            </a:pPr>
            <a:r>
              <a:rPr lang="en-US" sz="9693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LÝ DO CHỌN ĐỀ TÀI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08413" y="5852340"/>
            <a:ext cx="2550361" cy="272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Góp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phần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lan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tỏa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văn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hóa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đọc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trong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cộng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đồng</a:t>
            </a:r>
            <a:endParaRPr lang="en-US" sz="3899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53543" y="5852160"/>
            <a:ext cx="3228530" cy="34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Ứng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dụng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công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nghệ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vào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kinh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doanh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ngày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càng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phổ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biến</a:t>
            </a:r>
            <a:endParaRPr lang="en-US" sz="3899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25123" y="5852160"/>
            <a:ext cx="3153370" cy="34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Thói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quen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đọc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tăng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mô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hình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bán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truyền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thống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nhiều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hạn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chế</a:t>
            </a:r>
            <a:endParaRPr lang="en-US" sz="3899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16768" y="5852160"/>
            <a:ext cx="3153370" cy="34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Website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giúp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mua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nhanh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chóng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mọi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lúc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mọi</a:t>
            </a:r>
            <a:r>
              <a:rPr lang="en-US" sz="38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8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nơi</a:t>
            </a:r>
            <a:endParaRPr lang="en-US" sz="3899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372DD7-D91B-955B-E032-9657BD1CA05B}"/>
              </a:ext>
            </a:extLst>
          </p:cNvPr>
          <p:cNvGrpSpPr/>
          <p:nvPr/>
        </p:nvGrpSpPr>
        <p:grpSpPr>
          <a:xfrm>
            <a:off x="1346541" y="4205251"/>
            <a:ext cx="15343725" cy="1304008"/>
            <a:chOff x="1346541" y="4205251"/>
            <a:chExt cx="15343725" cy="1304008"/>
          </a:xfrm>
        </p:grpSpPr>
        <p:sp>
          <p:nvSpPr>
            <p:cNvPr id="10" name="AutoShape 10"/>
            <p:cNvSpPr/>
            <p:nvPr/>
          </p:nvSpPr>
          <p:spPr>
            <a:xfrm flipH="1">
              <a:off x="1840548" y="4866780"/>
              <a:ext cx="14108330" cy="0"/>
            </a:xfrm>
            <a:prstGeom prst="line">
              <a:avLst/>
            </a:prstGeom>
            <a:ln w="19050" cap="rnd">
              <a:solidFill>
                <a:srgbClr val="D75B3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46541" y="4205251"/>
              <a:ext cx="1400334" cy="1304008"/>
              <a:chOff x="0" y="0"/>
              <a:chExt cx="87284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728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2840" h="812800">
                    <a:moveTo>
                      <a:pt x="436420" y="0"/>
                    </a:moveTo>
                    <a:cubicBezTo>
                      <a:pt x="195392" y="0"/>
                      <a:pt x="0" y="181951"/>
                      <a:pt x="0" y="406400"/>
                    </a:cubicBezTo>
                    <a:cubicBezTo>
                      <a:pt x="0" y="630849"/>
                      <a:pt x="195392" y="812800"/>
                      <a:pt x="436420" y="812800"/>
                    </a:cubicBezTo>
                    <a:cubicBezTo>
                      <a:pt x="677448" y="812800"/>
                      <a:pt x="872840" y="630849"/>
                      <a:pt x="872840" y="406400"/>
                    </a:cubicBezTo>
                    <a:cubicBezTo>
                      <a:pt x="872840" y="181951"/>
                      <a:pt x="677448" y="0"/>
                      <a:pt x="436420" y="0"/>
                    </a:cubicBezTo>
                    <a:close/>
                  </a:path>
                </a:pathLst>
              </a:custGeom>
              <a:solidFill>
                <a:srgbClr val="D75B3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829" y="19050"/>
                <a:ext cx="709183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b="1" dirty="0">
                    <a:solidFill>
                      <a:srgbClr val="FFFFFF"/>
                    </a:solidFill>
                    <a:latin typeface="Cabin Bold"/>
                    <a:ea typeface="Cabin Bold"/>
                    <a:cs typeface="Cabin Bold"/>
                    <a:sym typeface="Cabin Bold"/>
                  </a:rPr>
                  <a:t>1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993215" y="4205251"/>
              <a:ext cx="1400334" cy="1304008"/>
              <a:chOff x="0" y="0"/>
              <a:chExt cx="87284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728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2840" h="812800">
                    <a:moveTo>
                      <a:pt x="436420" y="0"/>
                    </a:moveTo>
                    <a:cubicBezTo>
                      <a:pt x="195392" y="0"/>
                      <a:pt x="0" y="181951"/>
                      <a:pt x="0" y="406400"/>
                    </a:cubicBezTo>
                    <a:cubicBezTo>
                      <a:pt x="0" y="630849"/>
                      <a:pt x="195392" y="812800"/>
                      <a:pt x="436420" y="812800"/>
                    </a:cubicBezTo>
                    <a:cubicBezTo>
                      <a:pt x="677448" y="812800"/>
                      <a:pt x="872840" y="630849"/>
                      <a:pt x="872840" y="406400"/>
                    </a:cubicBezTo>
                    <a:cubicBezTo>
                      <a:pt x="872840" y="181951"/>
                      <a:pt x="677448" y="0"/>
                      <a:pt x="436420" y="0"/>
                    </a:cubicBezTo>
                    <a:close/>
                  </a:path>
                </a:pathLst>
              </a:custGeom>
              <a:solidFill>
                <a:srgbClr val="D75B3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1829" y="19050"/>
                <a:ext cx="709183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b="1">
                    <a:solidFill>
                      <a:srgbClr val="FFFFFF"/>
                    </a:solidFill>
                    <a:latin typeface="Cabin Bold"/>
                    <a:ea typeface="Cabin Bold"/>
                    <a:cs typeface="Cabin Bold"/>
                    <a:sym typeface="Cabin Bold"/>
                  </a:rPr>
                  <a:t>2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0641573" y="4205251"/>
              <a:ext cx="1400334" cy="1304008"/>
              <a:chOff x="0" y="0"/>
              <a:chExt cx="87284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728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2840" h="812800">
                    <a:moveTo>
                      <a:pt x="436420" y="0"/>
                    </a:moveTo>
                    <a:cubicBezTo>
                      <a:pt x="195392" y="0"/>
                      <a:pt x="0" y="181951"/>
                      <a:pt x="0" y="406400"/>
                    </a:cubicBezTo>
                    <a:cubicBezTo>
                      <a:pt x="0" y="630849"/>
                      <a:pt x="195392" y="812800"/>
                      <a:pt x="436420" y="812800"/>
                    </a:cubicBezTo>
                    <a:cubicBezTo>
                      <a:pt x="677448" y="812800"/>
                      <a:pt x="872840" y="630849"/>
                      <a:pt x="872840" y="406400"/>
                    </a:cubicBezTo>
                    <a:cubicBezTo>
                      <a:pt x="872840" y="181951"/>
                      <a:pt x="677448" y="0"/>
                      <a:pt x="436420" y="0"/>
                    </a:cubicBezTo>
                    <a:close/>
                  </a:path>
                </a:pathLst>
              </a:custGeom>
              <a:solidFill>
                <a:srgbClr val="D75B3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829" y="19050"/>
                <a:ext cx="709183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b="1">
                    <a:solidFill>
                      <a:srgbClr val="FFFFFF"/>
                    </a:solidFill>
                    <a:latin typeface="Cabin Bold"/>
                    <a:ea typeface="Cabin Bold"/>
                    <a:cs typeface="Cabin Bold"/>
                    <a:sym typeface="Cabin Bold"/>
                  </a:rPr>
                  <a:t>3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5289932" y="4205251"/>
              <a:ext cx="1400334" cy="1304008"/>
              <a:chOff x="0" y="0"/>
              <a:chExt cx="87284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728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2840" h="812800">
                    <a:moveTo>
                      <a:pt x="436420" y="0"/>
                    </a:moveTo>
                    <a:cubicBezTo>
                      <a:pt x="195392" y="0"/>
                      <a:pt x="0" y="181951"/>
                      <a:pt x="0" y="406400"/>
                    </a:cubicBezTo>
                    <a:cubicBezTo>
                      <a:pt x="0" y="630849"/>
                      <a:pt x="195392" y="812800"/>
                      <a:pt x="436420" y="812800"/>
                    </a:cubicBezTo>
                    <a:cubicBezTo>
                      <a:pt x="677448" y="812800"/>
                      <a:pt x="872840" y="630849"/>
                      <a:pt x="872840" y="406400"/>
                    </a:cubicBezTo>
                    <a:cubicBezTo>
                      <a:pt x="872840" y="181951"/>
                      <a:pt x="677448" y="0"/>
                      <a:pt x="436420" y="0"/>
                    </a:cubicBezTo>
                    <a:close/>
                  </a:path>
                </a:pathLst>
              </a:custGeom>
              <a:solidFill>
                <a:srgbClr val="D75B3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1829" y="19050"/>
                <a:ext cx="709183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b="1">
                    <a:solidFill>
                      <a:srgbClr val="FFFFFF"/>
                    </a:solidFill>
                    <a:latin typeface="Cabin Bold"/>
                    <a:ea typeface="Cabin Bold"/>
                    <a:cs typeface="Cabin Bold"/>
                    <a:sym typeface="Cabin Bold"/>
                  </a:rPr>
                  <a:t>4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52663"/>
            <a:ext cx="18288000" cy="7337806"/>
            <a:chOff x="0" y="0"/>
            <a:chExt cx="4816593" cy="1932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32591"/>
            </a:xfrm>
            <a:custGeom>
              <a:avLst/>
              <a:gdLst/>
              <a:ahLst/>
              <a:cxnLst/>
              <a:rect l="l" t="t" r="r" b="b"/>
              <a:pathLst>
                <a:path w="4816592" h="1932591">
                  <a:moveTo>
                    <a:pt x="0" y="0"/>
                  </a:moveTo>
                  <a:lnTo>
                    <a:pt x="4816592" y="0"/>
                  </a:lnTo>
                  <a:lnTo>
                    <a:pt x="4816592" y="1932591"/>
                  </a:lnTo>
                  <a:lnTo>
                    <a:pt x="0" y="1932591"/>
                  </a:lnTo>
                  <a:close/>
                </a:path>
              </a:pathLst>
            </a:custGeom>
            <a:solidFill>
              <a:srgbClr val="FFEA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97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21" y="-1555340"/>
            <a:ext cx="17936179" cy="7637395"/>
            <a:chOff x="0" y="0"/>
            <a:chExt cx="23914905" cy="10183193"/>
          </a:xfrm>
        </p:grpSpPr>
        <p:grpSp>
          <p:nvGrpSpPr>
            <p:cNvPr id="6" name="Group 6"/>
            <p:cNvGrpSpPr/>
            <p:nvPr/>
          </p:nvGrpSpPr>
          <p:grpSpPr>
            <a:xfrm rot="-5400000">
              <a:off x="15182817" y="1451105"/>
              <a:ext cx="10183193" cy="7280983"/>
              <a:chOff x="0" y="0"/>
              <a:chExt cx="7620000" cy="54483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18730" cy="5448300"/>
              </a:xfrm>
              <a:custGeom>
                <a:avLst/>
                <a:gdLst/>
                <a:ahLst/>
                <a:cxnLst/>
                <a:rect l="l" t="t" r="r" b="b"/>
                <a:pathLst>
                  <a:path w="7618730" h="5448300">
                    <a:moveTo>
                      <a:pt x="6323330" y="0"/>
                    </a:moveTo>
                    <a:lnTo>
                      <a:pt x="1296670" y="0"/>
                    </a:lnTo>
                    <a:cubicBezTo>
                      <a:pt x="580390" y="0"/>
                      <a:pt x="0" y="580390"/>
                      <a:pt x="0" y="1296670"/>
                    </a:cubicBezTo>
                    <a:lnTo>
                      <a:pt x="0" y="5448300"/>
                    </a:lnTo>
                    <a:lnTo>
                      <a:pt x="6322060" y="5448300"/>
                    </a:lnTo>
                    <a:cubicBezTo>
                      <a:pt x="7038340" y="5448300"/>
                      <a:pt x="7618730" y="4867910"/>
                      <a:pt x="7618730" y="4151630"/>
                    </a:cubicBezTo>
                    <a:lnTo>
                      <a:pt x="7618730" y="0"/>
                    </a:lnTo>
                    <a:lnTo>
                      <a:pt x="6323330" y="0"/>
                    </a:lnTo>
                    <a:close/>
                  </a:path>
                </a:pathLst>
              </a:custGeom>
              <a:solidFill>
                <a:srgbClr val="B54347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8" name="Freeform 8"/>
            <p:cNvSpPr/>
            <p:nvPr/>
          </p:nvSpPr>
          <p:spPr>
            <a:xfrm>
              <a:off x="18301281" y="2844719"/>
              <a:ext cx="4449093" cy="6087068"/>
            </a:xfrm>
            <a:custGeom>
              <a:avLst/>
              <a:gdLst/>
              <a:ahLst/>
              <a:cxnLst/>
              <a:rect l="l" t="t" r="r" b="b"/>
              <a:pathLst>
                <a:path w="4449093" h="6087068">
                  <a:moveTo>
                    <a:pt x="0" y="0"/>
                  </a:moveTo>
                  <a:lnTo>
                    <a:pt x="4449093" y="0"/>
                  </a:lnTo>
                  <a:lnTo>
                    <a:pt x="4449093" y="6087067"/>
                  </a:lnTo>
                  <a:lnTo>
                    <a:pt x="0" y="6087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613383"/>
              <a:ext cx="15917539" cy="182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9"/>
                </a:lnSpc>
              </a:pPr>
              <a:r>
                <a:rPr lang="en-US" sz="9024" dirty="0">
                  <a:solidFill>
                    <a:srgbClr val="B54347"/>
                  </a:solidFill>
                  <a:latin typeface="Agbalumo"/>
                  <a:ea typeface="Agbalumo"/>
                  <a:cs typeface="Agbalumo"/>
                  <a:sym typeface="Agbalumo"/>
                </a:rPr>
                <a:t>CƠ SỞ LÝ THUYẾT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7133" y="1772185"/>
            <a:ext cx="1199171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1. HTML –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Xây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dựng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khung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nội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dung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609600" y="3580496"/>
            <a:ext cx="9520714" cy="47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Vai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trò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Dùng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để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xây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dựng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cấu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trúc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của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một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trang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web.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1821" y="4408720"/>
            <a:ext cx="9520714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Thành phần chính: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&lt;!DOCTYPE html&gt;: Khai báo chuẩn HTML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&lt;html&gt;, &lt;head&gt;, &lt;body&gt;: Cấu trúc cơ bản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Các thẻ như &lt;h1&gt;, &lt;p&gt;, &lt;a&gt;, &lt;img&gt;, &lt;div&gt;... để tạo nội dung và bố cục trang web.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1821" y="7230660"/>
            <a:ext cx="8792179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Ưu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điểm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Dễ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học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,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tài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liệu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phong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phú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Mã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nguồn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mở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,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hoạt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động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trên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mọi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trình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duyệt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Kết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hợp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tốt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với</a:t>
            </a: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CSS, JavaScript, backend,…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1147" y="7230660"/>
            <a:ext cx="8115300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Hạn chế: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Không có khả năng tạo chức năng động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Phụ thuộc vào ngôn ngữ khác để tương tác với người dùng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52663"/>
            <a:ext cx="18288000" cy="7337806"/>
            <a:chOff x="0" y="0"/>
            <a:chExt cx="4816593" cy="1932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32591"/>
            </a:xfrm>
            <a:custGeom>
              <a:avLst/>
              <a:gdLst/>
              <a:ahLst/>
              <a:cxnLst/>
              <a:rect l="l" t="t" r="r" b="b"/>
              <a:pathLst>
                <a:path w="4816592" h="1932591">
                  <a:moveTo>
                    <a:pt x="0" y="0"/>
                  </a:moveTo>
                  <a:lnTo>
                    <a:pt x="4816592" y="0"/>
                  </a:lnTo>
                  <a:lnTo>
                    <a:pt x="4816592" y="1932591"/>
                  </a:lnTo>
                  <a:lnTo>
                    <a:pt x="0" y="1932591"/>
                  </a:lnTo>
                  <a:close/>
                </a:path>
              </a:pathLst>
            </a:custGeom>
            <a:solidFill>
              <a:srgbClr val="FFEA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97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latin typeface="Bahnschrift Light SemiCondensed" panose="020B0502040204020203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21" y="-1555340"/>
            <a:ext cx="17936179" cy="7637395"/>
            <a:chOff x="0" y="0"/>
            <a:chExt cx="23914905" cy="10183193"/>
          </a:xfrm>
        </p:grpSpPr>
        <p:grpSp>
          <p:nvGrpSpPr>
            <p:cNvPr id="6" name="Group 6"/>
            <p:cNvGrpSpPr/>
            <p:nvPr/>
          </p:nvGrpSpPr>
          <p:grpSpPr>
            <a:xfrm rot="-5400000">
              <a:off x="15182817" y="1451105"/>
              <a:ext cx="10183193" cy="7280983"/>
              <a:chOff x="0" y="0"/>
              <a:chExt cx="7620000" cy="54483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18730" cy="5448300"/>
              </a:xfrm>
              <a:custGeom>
                <a:avLst/>
                <a:gdLst/>
                <a:ahLst/>
                <a:cxnLst/>
                <a:rect l="l" t="t" r="r" b="b"/>
                <a:pathLst>
                  <a:path w="7618730" h="5448300">
                    <a:moveTo>
                      <a:pt x="6323330" y="0"/>
                    </a:moveTo>
                    <a:lnTo>
                      <a:pt x="1296670" y="0"/>
                    </a:lnTo>
                    <a:cubicBezTo>
                      <a:pt x="580390" y="0"/>
                      <a:pt x="0" y="580390"/>
                      <a:pt x="0" y="1296670"/>
                    </a:cubicBezTo>
                    <a:lnTo>
                      <a:pt x="0" y="5448300"/>
                    </a:lnTo>
                    <a:lnTo>
                      <a:pt x="6322060" y="5448300"/>
                    </a:lnTo>
                    <a:cubicBezTo>
                      <a:pt x="7038340" y="5448300"/>
                      <a:pt x="7618730" y="4867910"/>
                      <a:pt x="7618730" y="4151630"/>
                    </a:cubicBezTo>
                    <a:lnTo>
                      <a:pt x="7618730" y="0"/>
                    </a:lnTo>
                    <a:lnTo>
                      <a:pt x="6323330" y="0"/>
                    </a:lnTo>
                    <a:close/>
                  </a:path>
                </a:pathLst>
              </a:custGeom>
              <a:solidFill>
                <a:srgbClr val="B54347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8" name="Freeform 8"/>
            <p:cNvSpPr/>
            <p:nvPr/>
          </p:nvSpPr>
          <p:spPr>
            <a:xfrm>
              <a:off x="17849301" y="2903082"/>
              <a:ext cx="5062524" cy="5837292"/>
            </a:xfrm>
            <a:custGeom>
              <a:avLst/>
              <a:gdLst/>
              <a:ahLst/>
              <a:cxnLst/>
              <a:rect l="l" t="t" r="r" b="b"/>
              <a:pathLst>
                <a:path w="5062524" h="5837292">
                  <a:moveTo>
                    <a:pt x="0" y="0"/>
                  </a:moveTo>
                  <a:lnTo>
                    <a:pt x="5062524" y="0"/>
                  </a:lnTo>
                  <a:lnTo>
                    <a:pt x="5062524" y="5837292"/>
                  </a:lnTo>
                  <a:lnTo>
                    <a:pt x="0" y="5837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613383"/>
              <a:ext cx="15917539" cy="182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9"/>
                </a:lnSpc>
              </a:pPr>
              <a:r>
                <a:rPr lang="en-US" sz="9024" dirty="0">
                  <a:solidFill>
                    <a:srgbClr val="B54347"/>
                  </a:solidFill>
                  <a:latin typeface="Agbalumo"/>
                  <a:ea typeface="Agbalumo"/>
                  <a:cs typeface="Agbalumo"/>
                  <a:sym typeface="Agbalumo"/>
                </a:rPr>
                <a:t>CƠ SỞ LÝ THUYẾT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1772185"/>
            <a:ext cx="1199171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2. CSS –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kế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giao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endParaRPr lang="en-US" sz="5199" dirty="0">
              <a:solidFill>
                <a:srgbClr val="B54347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1821" y="3559153"/>
            <a:ext cx="11145482" cy="47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Vai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trò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Dùng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để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định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dạng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giao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diện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trang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web (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màu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sắc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,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bố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cục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,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phông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chữ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...)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1821" y="4266326"/>
            <a:ext cx="9520714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Cấu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trúc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cơ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bản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          selector </a:t>
            </a:r>
          </a:p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          {</a:t>
            </a:r>
          </a:p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                  property: value;</a:t>
            </a:r>
          </a:p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           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420" y="7057776"/>
            <a:ext cx="8792179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Ưu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điểm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Giúp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thiết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kế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giao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diện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đẹp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,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nhất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quán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Dễ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tái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sử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dụng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và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bảo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trì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Giảm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kích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thước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file HTML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64762" y="6966227"/>
            <a:ext cx="9525000" cy="2048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Hạn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chế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Trình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duyệt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hỗ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trợ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không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đồng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đều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(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nhất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là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phiên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bản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cũ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)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Thiếu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tính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năng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logic (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không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có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biến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trong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CSS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truyền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thống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52663"/>
            <a:ext cx="18288000" cy="7337806"/>
            <a:chOff x="0" y="0"/>
            <a:chExt cx="4816593" cy="1932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32591"/>
            </a:xfrm>
            <a:custGeom>
              <a:avLst/>
              <a:gdLst/>
              <a:ahLst/>
              <a:cxnLst/>
              <a:rect l="l" t="t" r="r" b="b"/>
              <a:pathLst>
                <a:path w="4816592" h="1932591">
                  <a:moveTo>
                    <a:pt x="0" y="0"/>
                  </a:moveTo>
                  <a:lnTo>
                    <a:pt x="4816592" y="0"/>
                  </a:lnTo>
                  <a:lnTo>
                    <a:pt x="4816592" y="1932591"/>
                  </a:lnTo>
                  <a:lnTo>
                    <a:pt x="0" y="1932591"/>
                  </a:lnTo>
                  <a:close/>
                </a:path>
              </a:pathLst>
            </a:custGeom>
            <a:solidFill>
              <a:srgbClr val="FFEA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97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21" y="-1555340"/>
            <a:ext cx="17936179" cy="7637395"/>
            <a:chOff x="0" y="0"/>
            <a:chExt cx="23914905" cy="10183193"/>
          </a:xfrm>
        </p:grpSpPr>
        <p:grpSp>
          <p:nvGrpSpPr>
            <p:cNvPr id="6" name="Group 6"/>
            <p:cNvGrpSpPr/>
            <p:nvPr/>
          </p:nvGrpSpPr>
          <p:grpSpPr>
            <a:xfrm rot="-5400000">
              <a:off x="15182817" y="1451105"/>
              <a:ext cx="10183193" cy="7280983"/>
              <a:chOff x="0" y="0"/>
              <a:chExt cx="7620000" cy="54483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18730" cy="5448300"/>
              </a:xfrm>
              <a:custGeom>
                <a:avLst/>
                <a:gdLst/>
                <a:ahLst/>
                <a:cxnLst/>
                <a:rect l="l" t="t" r="r" b="b"/>
                <a:pathLst>
                  <a:path w="7618730" h="5448300">
                    <a:moveTo>
                      <a:pt x="6323330" y="0"/>
                    </a:moveTo>
                    <a:lnTo>
                      <a:pt x="1296670" y="0"/>
                    </a:lnTo>
                    <a:cubicBezTo>
                      <a:pt x="580390" y="0"/>
                      <a:pt x="0" y="580390"/>
                      <a:pt x="0" y="1296670"/>
                    </a:cubicBezTo>
                    <a:lnTo>
                      <a:pt x="0" y="5448300"/>
                    </a:lnTo>
                    <a:lnTo>
                      <a:pt x="6322060" y="5448300"/>
                    </a:lnTo>
                    <a:cubicBezTo>
                      <a:pt x="7038340" y="5448300"/>
                      <a:pt x="7618730" y="4867910"/>
                      <a:pt x="7618730" y="4151630"/>
                    </a:cubicBezTo>
                    <a:lnTo>
                      <a:pt x="7618730" y="0"/>
                    </a:lnTo>
                    <a:lnTo>
                      <a:pt x="6323330" y="0"/>
                    </a:lnTo>
                    <a:close/>
                  </a:path>
                </a:pathLst>
              </a:custGeom>
              <a:solidFill>
                <a:srgbClr val="B54347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8" name="Freeform 8"/>
            <p:cNvSpPr/>
            <p:nvPr/>
          </p:nvSpPr>
          <p:spPr>
            <a:xfrm>
              <a:off x="17383013" y="2890537"/>
              <a:ext cx="5876488" cy="6041249"/>
            </a:xfrm>
            <a:custGeom>
              <a:avLst/>
              <a:gdLst/>
              <a:ahLst/>
              <a:cxnLst/>
              <a:rect l="l" t="t" r="r" b="b"/>
              <a:pathLst>
                <a:path w="5876488" h="6041249">
                  <a:moveTo>
                    <a:pt x="0" y="0"/>
                  </a:moveTo>
                  <a:lnTo>
                    <a:pt x="5876488" y="0"/>
                  </a:lnTo>
                  <a:lnTo>
                    <a:pt x="5876488" y="6041249"/>
                  </a:lnTo>
                  <a:lnTo>
                    <a:pt x="0" y="6041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613383"/>
              <a:ext cx="15917539" cy="182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9"/>
                </a:lnSpc>
              </a:pPr>
              <a:r>
                <a:rPr lang="en-US" sz="9024">
                  <a:solidFill>
                    <a:srgbClr val="B54347"/>
                  </a:solidFill>
                  <a:latin typeface="Agbalumo"/>
                  <a:ea typeface="Agbalumo"/>
                  <a:cs typeface="Agbalumo"/>
                  <a:sym typeface="Agbalumo"/>
                </a:rPr>
                <a:t>CƠ SỞ LÝ THUYẾT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7133" y="1772185"/>
            <a:ext cx="1199171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3. JavaScript –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Tạo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tính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năng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tương</a:t>
            </a:r>
            <a:r>
              <a:rPr lang="en-US" sz="5199" dirty="0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99" dirty="0" err="1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tác</a:t>
            </a:r>
            <a:endParaRPr lang="en-US" sz="5199" dirty="0">
              <a:solidFill>
                <a:srgbClr val="B54347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1821" y="3453680"/>
            <a:ext cx="11611918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Vai trò: Tạo sự tương tác và tính năng động cho website (giao diện thay đổi, xử lý sự kiện, xác thực, giỏ hàng...)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1821" y="4732570"/>
            <a:ext cx="9520714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Ví dụ ứng dụng: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Tìm kiếm sản phẩm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Cập nhật giỏ hàng theo thời gian thực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Giao diện phản hồi sự kiện click/hover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1821" y="7230660"/>
            <a:ext cx="9233632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Ưu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điểm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Tương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thích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nhiều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trình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duyệt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Hoạt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động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phía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client →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phản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hồi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nhanh</a:t>
            </a:r>
            <a:endParaRPr lang="en-US" sz="2900" dirty="0">
              <a:solidFill>
                <a:srgbClr val="B54347"/>
              </a:solidFill>
              <a:latin typeface="Bahnschrift Light SemiCondense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Có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thể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dùng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cả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ở frontend </a:t>
            </a:r>
            <a:r>
              <a:rPr lang="en-US" sz="2900" dirty="0" err="1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và</a:t>
            </a:r>
            <a:r>
              <a:rPr lang="en-US" sz="2900" dirty="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 backend (Node.js)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85453" y="7230660"/>
            <a:ext cx="8378458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Hạn chế: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Dễ bị khai thác nếu không kiểm tra bảo mật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B54347"/>
                </a:solidFill>
                <a:latin typeface="Bahnschrift Light SemiCondensed" panose="020B0502040204020203" pitchFamily="34" charset="0"/>
                <a:ea typeface="Canva Sans"/>
                <a:cs typeface="Canva Sans"/>
                <a:sym typeface="Canva Sans"/>
              </a:rPr>
              <a:t>Code có thể bị người dùng xem hoặc chỉnh sửa trên trình duyệt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0850031F-59CE-8F7F-B042-0EFFFFFF2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982733"/>
            <a:ext cx="15621000" cy="7564629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flipH="1">
            <a:off x="11801097" y="1649968"/>
            <a:ext cx="874588" cy="965911"/>
          </a:xfrm>
          <a:custGeom>
            <a:avLst/>
            <a:gdLst/>
            <a:ahLst/>
            <a:cxnLst/>
            <a:rect l="l" t="t" r="r" b="b"/>
            <a:pathLst>
              <a:path w="874588" h="965911">
                <a:moveTo>
                  <a:pt x="874588" y="0"/>
                </a:moveTo>
                <a:lnTo>
                  <a:pt x="0" y="0"/>
                </a:lnTo>
                <a:lnTo>
                  <a:pt x="0" y="965911"/>
                </a:lnTo>
                <a:lnTo>
                  <a:pt x="874588" y="965911"/>
                </a:lnTo>
                <a:lnTo>
                  <a:pt x="8745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1388" y="169148"/>
            <a:ext cx="7674511" cy="1618624"/>
          </a:xfrm>
          <a:custGeom>
            <a:avLst/>
            <a:gdLst/>
            <a:ahLst/>
            <a:cxnLst/>
            <a:rect l="l" t="t" r="r" b="b"/>
            <a:pathLst>
              <a:path w="7674511" h="1618624">
                <a:moveTo>
                  <a:pt x="0" y="0"/>
                </a:moveTo>
                <a:lnTo>
                  <a:pt x="7674511" y="0"/>
                </a:lnTo>
                <a:lnTo>
                  <a:pt x="7674511" y="1618624"/>
                </a:lnTo>
                <a:lnTo>
                  <a:pt x="0" y="161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8764" y="578163"/>
            <a:ext cx="10121815" cy="85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038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Giao </a:t>
            </a:r>
            <a:r>
              <a:rPr lang="en-US" sz="6038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r>
              <a:rPr lang="en-US" sz="6038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6038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trang</a:t>
            </a:r>
            <a:r>
              <a:rPr lang="en-US" sz="6038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6038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chủ</a:t>
            </a:r>
            <a:endParaRPr lang="en-US" sz="6038" dirty="0">
              <a:solidFill>
                <a:srgbClr val="FFFFFF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827638" y="9382594"/>
            <a:ext cx="9971638" cy="6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trang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chủ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trực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quan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rõ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ràng</a:t>
            </a:r>
            <a:endParaRPr lang="en-US" sz="3999" dirty="0">
              <a:ln>
                <a:solidFill>
                  <a:schemeClr val="tx1"/>
                </a:solidFill>
              </a:ln>
              <a:solidFill>
                <a:srgbClr val="FFFFF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341006" y="970518"/>
            <a:ext cx="10669359" cy="6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thanh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menu,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tìm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kiếm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danh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mục</a:t>
            </a:r>
            <a:r>
              <a:rPr lang="en-US" sz="3999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999" dirty="0" err="1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endParaRPr lang="en-US" sz="3999" dirty="0">
              <a:ln>
                <a:solidFill>
                  <a:schemeClr val="tx1"/>
                </a:solidFill>
              </a:ln>
              <a:solidFill>
                <a:srgbClr val="FFFFF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8" name="Freeform 8"/>
          <p:cNvSpPr/>
          <p:nvPr/>
        </p:nvSpPr>
        <p:spPr>
          <a:xfrm flipV="1">
            <a:off x="2725210" y="8475898"/>
            <a:ext cx="874588" cy="965911"/>
          </a:xfrm>
          <a:custGeom>
            <a:avLst/>
            <a:gdLst/>
            <a:ahLst/>
            <a:cxnLst/>
            <a:rect l="l" t="t" r="r" b="b"/>
            <a:pathLst>
              <a:path w="874588" h="965911">
                <a:moveTo>
                  <a:pt x="0" y="965910"/>
                </a:moveTo>
                <a:lnTo>
                  <a:pt x="874588" y="965910"/>
                </a:lnTo>
                <a:lnTo>
                  <a:pt x="874588" y="0"/>
                </a:lnTo>
                <a:lnTo>
                  <a:pt x="0" y="0"/>
                </a:lnTo>
                <a:lnTo>
                  <a:pt x="0" y="96591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DE33F-CD27-423D-6574-8E16C2F0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5B99760D-875F-22EE-AC2C-EA3760793CA5}"/>
              </a:ext>
            </a:extLst>
          </p:cNvPr>
          <p:cNvSpPr/>
          <p:nvPr/>
        </p:nvSpPr>
        <p:spPr>
          <a:xfrm>
            <a:off x="191389" y="169148"/>
            <a:ext cx="6514212" cy="1266759"/>
          </a:xfrm>
          <a:custGeom>
            <a:avLst/>
            <a:gdLst/>
            <a:ahLst/>
            <a:cxnLst/>
            <a:rect l="l" t="t" r="r" b="b"/>
            <a:pathLst>
              <a:path w="7674511" h="1618624">
                <a:moveTo>
                  <a:pt x="0" y="0"/>
                </a:moveTo>
                <a:lnTo>
                  <a:pt x="7674511" y="0"/>
                </a:lnTo>
                <a:lnTo>
                  <a:pt x="7674511" y="1618624"/>
                </a:lnTo>
                <a:lnTo>
                  <a:pt x="0" y="161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943340F-B402-5960-BB8D-29FC13CEDFA3}"/>
              </a:ext>
            </a:extLst>
          </p:cNvPr>
          <p:cNvSpPr txBox="1"/>
          <p:nvPr/>
        </p:nvSpPr>
        <p:spPr>
          <a:xfrm>
            <a:off x="685800" y="394291"/>
            <a:ext cx="7167436" cy="792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Giao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trang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chủ</a:t>
            </a:r>
            <a:endParaRPr lang="en-US" sz="4800" dirty="0">
              <a:solidFill>
                <a:srgbClr val="FFFFFF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pic>
        <p:nvPicPr>
          <p:cNvPr id="9" name="Picture 8" descr="A screenshot of a book&#10;&#10;AI-generated content may be incorrect.">
            <a:extLst>
              <a:ext uri="{FF2B5EF4-FFF2-40B4-BE49-F238E27FC236}">
                <a16:creationId xmlns:a16="http://schemas.microsoft.com/office/drawing/2014/main" id="{49B410FD-6B40-6073-BB69-12223DFA5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59" y="1790700"/>
            <a:ext cx="16033882" cy="76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80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F1EC5-FF85-7783-54F6-0BA0ED1B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9AB2E6C7-E052-5DC3-F3CD-40160FAB29FE}"/>
              </a:ext>
            </a:extLst>
          </p:cNvPr>
          <p:cNvSpPr/>
          <p:nvPr/>
        </p:nvSpPr>
        <p:spPr>
          <a:xfrm>
            <a:off x="191389" y="169148"/>
            <a:ext cx="6514212" cy="1266759"/>
          </a:xfrm>
          <a:custGeom>
            <a:avLst/>
            <a:gdLst/>
            <a:ahLst/>
            <a:cxnLst/>
            <a:rect l="l" t="t" r="r" b="b"/>
            <a:pathLst>
              <a:path w="7674511" h="1618624">
                <a:moveTo>
                  <a:pt x="0" y="0"/>
                </a:moveTo>
                <a:lnTo>
                  <a:pt x="7674511" y="0"/>
                </a:lnTo>
                <a:lnTo>
                  <a:pt x="7674511" y="1618624"/>
                </a:lnTo>
                <a:lnTo>
                  <a:pt x="0" y="161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CE1C933-6B53-9FEF-6730-54D9EC250E09}"/>
              </a:ext>
            </a:extLst>
          </p:cNvPr>
          <p:cNvSpPr txBox="1"/>
          <p:nvPr/>
        </p:nvSpPr>
        <p:spPr>
          <a:xfrm>
            <a:off x="685800" y="394291"/>
            <a:ext cx="7167436" cy="792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Giao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trang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chủ</a:t>
            </a:r>
            <a:endParaRPr lang="en-US" sz="4800" dirty="0">
              <a:solidFill>
                <a:srgbClr val="FFFFFF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679E4C-D8FE-DB80-A9B6-212C1BFF6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247" y="1866900"/>
            <a:ext cx="15717506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43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9A4AB-B0A7-26BB-DE6E-DE34AC4C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59DB4653-D2B8-9784-61D1-CEBF19746342}"/>
              </a:ext>
            </a:extLst>
          </p:cNvPr>
          <p:cNvSpPr/>
          <p:nvPr/>
        </p:nvSpPr>
        <p:spPr>
          <a:xfrm>
            <a:off x="191389" y="169148"/>
            <a:ext cx="6514212" cy="1266759"/>
          </a:xfrm>
          <a:custGeom>
            <a:avLst/>
            <a:gdLst/>
            <a:ahLst/>
            <a:cxnLst/>
            <a:rect l="l" t="t" r="r" b="b"/>
            <a:pathLst>
              <a:path w="7674511" h="1618624">
                <a:moveTo>
                  <a:pt x="0" y="0"/>
                </a:moveTo>
                <a:lnTo>
                  <a:pt x="7674511" y="0"/>
                </a:lnTo>
                <a:lnTo>
                  <a:pt x="7674511" y="1618624"/>
                </a:lnTo>
                <a:lnTo>
                  <a:pt x="0" y="161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DA2AAB-A458-F071-B096-9E6C2AAD589A}"/>
              </a:ext>
            </a:extLst>
          </p:cNvPr>
          <p:cNvSpPr txBox="1"/>
          <p:nvPr/>
        </p:nvSpPr>
        <p:spPr>
          <a:xfrm>
            <a:off x="685800" y="394291"/>
            <a:ext cx="7167436" cy="792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Giao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trang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chủ</a:t>
            </a:r>
            <a:endParaRPr lang="en-US" sz="4800" dirty="0">
              <a:solidFill>
                <a:srgbClr val="FFFFFF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9DC1106-8749-AC44-C15D-09F7C92A6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94" y="1672111"/>
            <a:ext cx="16436012" cy="785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05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177EB-9E7F-C697-E17A-82724B51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4ED9446-F4FC-60C4-71B5-A1261C03AED7}"/>
              </a:ext>
            </a:extLst>
          </p:cNvPr>
          <p:cNvSpPr/>
          <p:nvPr/>
        </p:nvSpPr>
        <p:spPr>
          <a:xfrm>
            <a:off x="191389" y="169148"/>
            <a:ext cx="6514212" cy="1266759"/>
          </a:xfrm>
          <a:custGeom>
            <a:avLst/>
            <a:gdLst/>
            <a:ahLst/>
            <a:cxnLst/>
            <a:rect l="l" t="t" r="r" b="b"/>
            <a:pathLst>
              <a:path w="7674511" h="1618624">
                <a:moveTo>
                  <a:pt x="0" y="0"/>
                </a:moveTo>
                <a:lnTo>
                  <a:pt x="7674511" y="0"/>
                </a:lnTo>
                <a:lnTo>
                  <a:pt x="7674511" y="1618624"/>
                </a:lnTo>
                <a:lnTo>
                  <a:pt x="0" y="161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8D7050-13F4-0F14-5A5A-52551362C36D}"/>
              </a:ext>
            </a:extLst>
          </p:cNvPr>
          <p:cNvSpPr txBox="1"/>
          <p:nvPr/>
        </p:nvSpPr>
        <p:spPr>
          <a:xfrm>
            <a:off x="1066800" y="346327"/>
            <a:ext cx="7167436" cy="792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Giao </a:t>
            </a:r>
            <a:r>
              <a:rPr lang="en-US" sz="4800" dirty="0" err="1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diện</a:t>
            </a:r>
            <a:r>
              <a:rPr lang="en-US" sz="48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 Admin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E451EED-527E-B020-CCA4-E4C46A300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32782"/>
            <a:ext cx="17055787" cy="822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05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43071" y="-909334"/>
            <a:ext cx="7369223" cy="11196334"/>
          </a:xfrm>
          <a:custGeom>
            <a:avLst/>
            <a:gdLst/>
            <a:ahLst/>
            <a:cxnLst/>
            <a:rect l="l" t="t" r="r" b="b"/>
            <a:pathLst>
              <a:path w="7369223" h="11196334">
                <a:moveTo>
                  <a:pt x="0" y="0"/>
                </a:moveTo>
                <a:lnTo>
                  <a:pt x="7369224" y="0"/>
                </a:lnTo>
                <a:lnTo>
                  <a:pt x="7369224" y="11196334"/>
                </a:lnTo>
                <a:lnTo>
                  <a:pt x="0" y="11196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5388" y="4991100"/>
            <a:ext cx="14546015" cy="49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Triển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khai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đầy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đủ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chức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chính</a:t>
            </a:r>
            <a:endParaRPr lang="en-US" sz="3099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  <a:p>
            <a:pPr marL="669288" lvl="1" indent="-334644" algn="just">
              <a:lnSpc>
                <a:spcPct val="150000"/>
              </a:lnSpc>
              <a:buFont typeface="Arial"/>
              <a:buChar char="•"/>
            </a:pP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Chức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tìm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kiếm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tìm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kiếm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theo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từ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khóa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–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cho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kết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quả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nhanh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phù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hợp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  <a:p>
            <a:pPr marL="669288" lvl="1" indent="-334644" algn="just">
              <a:lnSpc>
                <a:spcPct val="150000"/>
              </a:lnSpc>
              <a:buFont typeface="Arial"/>
              <a:buChar char="•"/>
            </a:pP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Giỏ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thêm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xoá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cập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nhật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số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lượng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xem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tổng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tiền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  <a:p>
            <a:pPr marL="669288" lvl="1" indent="-334644" algn="just">
              <a:lnSpc>
                <a:spcPct val="150000"/>
              </a:lnSpc>
              <a:buFont typeface="Arial"/>
              <a:buChar char="•"/>
            </a:pP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Tài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khoản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hỗ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trợ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đăng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ký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đăng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nhập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quản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lý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xem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lại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đã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mua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  <a:p>
            <a:pPr marL="669288" lvl="1" indent="-334644" algn="just">
              <a:lnSpc>
                <a:spcPct val="150000"/>
              </a:lnSpc>
              <a:buFont typeface="Arial"/>
              <a:buChar char="•"/>
            </a:pP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Đặt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thanh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toán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mô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phỏng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quy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trình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đặt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mua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sản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phẩm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từ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chọn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đến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xác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(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cho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phép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nhập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tự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động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tính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tổng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tiền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)</a:t>
            </a:r>
          </a:p>
          <a:p>
            <a:pPr marL="669288" lvl="1" indent="-334644" algn="just">
              <a:lnSpc>
                <a:spcPct val="150000"/>
              </a:lnSpc>
              <a:buFont typeface="Arial"/>
              <a:buChar char="•"/>
            </a:pP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Lịch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sử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hiển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thị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rõ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mã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số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tổng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tiền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trạng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thái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xử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099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lý</a:t>
            </a:r>
            <a:r>
              <a:rPr lang="en-US" sz="3099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65388" y="495300"/>
            <a:ext cx="14546015" cy="436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Xây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dựng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hoàn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chỉnh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website</a:t>
            </a:r>
          </a:p>
          <a:p>
            <a:pPr marL="669289" lvl="1" indent="-334645" algn="just">
              <a:lnSpc>
                <a:spcPts val="4339"/>
              </a:lnSpc>
              <a:buFont typeface="Arial"/>
              <a:buChar char="•"/>
            </a:pP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Thiết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kế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trang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chủ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rõ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dễ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nhìn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mang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lại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trải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nghiệm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thân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  <a:p>
            <a:pPr marL="669289" lvl="1" indent="-334645" algn="just">
              <a:lnSpc>
                <a:spcPts val="4339"/>
              </a:lnSpc>
              <a:buFont typeface="Arial"/>
              <a:buChar char="•"/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Thanh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điều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hướng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(menu)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cố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định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giúp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truy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cập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nhanh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đến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loại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như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giáo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khoa,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kỹ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ngoại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ngữ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,...</a:t>
            </a:r>
          </a:p>
          <a:p>
            <a:pPr marL="669289" lvl="1" indent="-334645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trang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chức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được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bố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trí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hợp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lý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danh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mục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chi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tiết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giỏ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tài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khoản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toán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,...</a:t>
            </a:r>
          </a:p>
          <a:p>
            <a:pPr marL="669289" lvl="1" indent="-334645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Thiết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kế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giỏ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nút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điều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chỉnh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số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lượng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xoá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sản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phẩm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hiển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thị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tổng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u="none" strike="noStrike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tiền</a:t>
            </a:r>
            <a:r>
              <a:rPr lang="en-US" sz="3200" u="none" strike="noStrike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884" y="2131052"/>
            <a:ext cx="2815728" cy="4982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rPr>
              <a:t>Kết Quả Đạt Được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326690" y="828180"/>
            <a:ext cx="5040923" cy="1604478"/>
            <a:chOff x="0" y="0"/>
            <a:chExt cx="1178044" cy="11828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8044" cy="1182838"/>
            </a:xfrm>
            <a:custGeom>
              <a:avLst/>
              <a:gdLst/>
              <a:ahLst/>
              <a:cxnLst/>
              <a:rect l="l" t="t" r="r" b="b"/>
              <a:pathLst>
                <a:path w="1178044" h="1182838">
                  <a:moveTo>
                    <a:pt x="589022" y="0"/>
                  </a:moveTo>
                  <a:cubicBezTo>
                    <a:pt x="263714" y="0"/>
                    <a:pt x="0" y="264787"/>
                    <a:pt x="0" y="591419"/>
                  </a:cubicBezTo>
                  <a:cubicBezTo>
                    <a:pt x="0" y="918051"/>
                    <a:pt x="263714" y="1182838"/>
                    <a:pt x="589022" y="1182838"/>
                  </a:cubicBezTo>
                  <a:cubicBezTo>
                    <a:pt x="914330" y="1182838"/>
                    <a:pt x="1178044" y="918051"/>
                    <a:pt x="1178044" y="591419"/>
                  </a:cubicBezTo>
                  <a:cubicBezTo>
                    <a:pt x="1178044" y="264787"/>
                    <a:pt x="914330" y="0"/>
                    <a:pt x="589022" y="0"/>
                  </a:cubicBezTo>
                  <a:close/>
                </a:path>
              </a:pathLst>
            </a:custGeom>
            <a:solidFill>
              <a:srgbClr val="D75B3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0442" y="53741"/>
              <a:ext cx="957161" cy="101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dirty="0" err="1">
                  <a:solidFill>
                    <a:srgbClr val="FFFFFF"/>
                  </a:solidFill>
                  <a:latin typeface="Agbalumo"/>
                  <a:ea typeface="Agbalumo"/>
                  <a:cs typeface="Agbalumo"/>
                  <a:sym typeface="Agbalumo"/>
                </a:rPr>
                <a:t>Nhược</a:t>
              </a:r>
              <a:r>
                <a:rPr lang="en-US" sz="3200" dirty="0">
                  <a:solidFill>
                    <a:srgbClr val="FFFFFF"/>
                  </a:solidFill>
                  <a:latin typeface="Agbalumo"/>
                  <a:ea typeface="Agbalumo"/>
                  <a:cs typeface="Agbalumo"/>
                  <a:sym typeface="Agbalumo"/>
                </a:rPr>
                <a:t> </a:t>
              </a:r>
              <a:r>
                <a:rPr lang="en-US" sz="3200" dirty="0" err="1">
                  <a:solidFill>
                    <a:srgbClr val="FFFFFF"/>
                  </a:solidFill>
                  <a:latin typeface="Agbalumo"/>
                  <a:ea typeface="Agbalumo"/>
                  <a:cs typeface="Agbalumo"/>
                  <a:sym typeface="Agbalumo"/>
                </a:rPr>
                <a:t>điểm</a:t>
              </a:r>
              <a:endParaRPr lang="en-US" sz="3200" dirty="0">
                <a:solidFill>
                  <a:srgbClr val="FFFFFF"/>
                </a:solidFill>
                <a:latin typeface="Agbalumo"/>
                <a:ea typeface="Agbalumo"/>
                <a:cs typeface="Agbalumo"/>
                <a:sym typeface="Agbalumo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47800" y="633349"/>
            <a:ext cx="5040923" cy="1680845"/>
            <a:chOff x="0" y="0"/>
            <a:chExt cx="1179443" cy="1182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9443" cy="1182838"/>
            </a:xfrm>
            <a:custGeom>
              <a:avLst/>
              <a:gdLst/>
              <a:ahLst/>
              <a:cxnLst/>
              <a:rect l="l" t="t" r="r" b="b"/>
              <a:pathLst>
                <a:path w="1179443" h="1182838">
                  <a:moveTo>
                    <a:pt x="589722" y="0"/>
                  </a:moveTo>
                  <a:cubicBezTo>
                    <a:pt x="264027" y="0"/>
                    <a:pt x="0" y="264787"/>
                    <a:pt x="0" y="591419"/>
                  </a:cubicBezTo>
                  <a:cubicBezTo>
                    <a:pt x="0" y="918051"/>
                    <a:pt x="264027" y="1182838"/>
                    <a:pt x="589722" y="1182838"/>
                  </a:cubicBezTo>
                  <a:cubicBezTo>
                    <a:pt x="915416" y="1182838"/>
                    <a:pt x="1179443" y="918051"/>
                    <a:pt x="1179443" y="591419"/>
                  </a:cubicBezTo>
                  <a:cubicBezTo>
                    <a:pt x="1179443" y="264787"/>
                    <a:pt x="915416" y="0"/>
                    <a:pt x="589722" y="0"/>
                  </a:cubicBezTo>
                  <a:close/>
                </a:path>
              </a:pathLst>
            </a:custGeom>
            <a:solidFill>
              <a:srgbClr val="D75B3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10573" y="53741"/>
              <a:ext cx="958298" cy="101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Agbalumo"/>
                  <a:ea typeface="Agbalumo"/>
                  <a:cs typeface="Agbalumo"/>
                  <a:sym typeface="Agbalumo"/>
                </a:rPr>
                <a:t>Ưu điểm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51503" y="2947511"/>
            <a:ext cx="8259540" cy="16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giản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trực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quan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dễ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sử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dụng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giúp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dễ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tác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trên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website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không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rành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công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nghệ</a:t>
            </a:r>
            <a:endParaRPr lang="en-US" sz="3200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1503" y="4782185"/>
            <a:ext cx="8259540" cy="168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Đã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triển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khai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được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hầu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hết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chức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cơ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bản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của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một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hệ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thống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bán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tìm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kiếm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giỏ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tài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khoản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đặt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endParaRPr lang="en-US" sz="3200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26965" y="7886700"/>
            <a:ext cx="8157311" cy="111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chưa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được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responsive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hoàn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toàn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hiển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thị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sai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hoặc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khó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tác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trên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màn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hình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nhỏ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6965" y="6615430"/>
            <a:ext cx="8084875" cy="111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Không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có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đánh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giá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xét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từ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mua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thiếu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tham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khảo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trước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chọn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6965" y="4782185"/>
            <a:ext cx="8084875" cy="168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chưa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thanh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toán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qua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phương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thức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đại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như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chuyển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khoản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ví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điện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tử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(Momo,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ZaloPay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),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thẻ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ngân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,...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26965" y="2947511"/>
            <a:ext cx="7792693" cy="168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Dữ liệu chỉ được lưu tạm thời bằng localStorage, không hỗ trợ nhiều người dùng cùng lúc hoặc lưu vĩnh viễn.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877" y="6633293"/>
            <a:ext cx="8259540" cy="110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Website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hỗ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trợ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khá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đa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dạng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về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thể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loại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phù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hợp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với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nhiều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đối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tượng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độc</a:t>
            </a:r>
            <a:r>
              <a:rPr lang="en-US" sz="32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2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giả</a:t>
            </a:r>
            <a:endParaRPr lang="en-US" sz="3200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CE884-747C-0C6B-5684-C1990813631B}"/>
              </a:ext>
            </a:extLst>
          </p:cNvPr>
          <p:cNvSpPr txBox="1"/>
          <p:nvPr/>
        </p:nvSpPr>
        <p:spPr>
          <a:xfrm>
            <a:off x="503724" y="7904563"/>
            <a:ext cx="8259540" cy="119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vi-VN" sz="3200" dirty="0">
                <a:solidFill>
                  <a:srgbClr val="D75B3F"/>
                </a:solidFill>
                <a:latin typeface="Asap Condensed" panose="020B0604020202020204" charset="0"/>
              </a:rPr>
              <a:t>Có mô phỏng quy trình mua hàng từ A-Z, giúp người dùng có trải nghiệm thực tế</a:t>
            </a:r>
            <a:endParaRPr lang="en-US" sz="3200" dirty="0">
              <a:solidFill>
                <a:srgbClr val="D75B3F"/>
              </a:solidFill>
              <a:latin typeface="Asap Condensed" panose="020B0604020202020204" charset="0"/>
              <a:ea typeface="Asap Condensed"/>
              <a:cs typeface="Asap Condensed"/>
              <a:sym typeface="Asap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2" grpId="0"/>
      <p:bldP spid="13" grpId="0"/>
      <p:bldP spid="14" grpId="0"/>
      <p:bldP spid="15" grpId="0"/>
      <p:bldP spid="16" grpId="0" build="p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35215" y="0"/>
            <a:ext cx="6667671" cy="4767385"/>
            <a:chOff x="0" y="0"/>
            <a:chExt cx="7620000" cy="5448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18730" cy="5448300"/>
            </a:xfrm>
            <a:custGeom>
              <a:avLst/>
              <a:gdLst/>
              <a:ahLst/>
              <a:cxnLst/>
              <a:rect l="l" t="t" r="r" b="b"/>
              <a:pathLst>
                <a:path w="7618730" h="5448300">
                  <a:moveTo>
                    <a:pt x="6323330" y="0"/>
                  </a:moveTo>
                  <a:lnTo>
                    <a:pt x="1296670" y="0"/>
                  </a:lnTo>
                  <a:cubicBezTo>
                    <a:pt x="580390" y="0"/>
                    <a:pt x="0" y="580390"/>
                    <a:pt x="0" y="1296670"/>
                  </a:cubicBezTo>
                  <a:lnTo>
                    <a:pt x="0" y="5448300"/>
                  </a:lnTo>
                  <a:lnTo>
                    <a:pt x="6322060" y="5448300"/>
                  </a:lnTo>
                  <a:cubicBezTo>
                    <a:pt x="7038340" y="5448300"/>
                    <a:pt x="7618730" y="4867910"/>
                    <a:pt x="7618730" y="4151630"/>
                  </a:cubicBezTo>
                  <a:lnTo>
                    <a:pt x="7618730" y="0"/>
                  </a:lnTo>
                  <a:lnTo>
                    <a:pt x="6323330" y="0"/>
                  </a:lnTo>
                  <a:close/>
                </a:path>
              </a:pathLst>
            </a:custGeom>
            <a:solidFill>
              <a:srgbClr val="AF323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0" y="523586"/>
            <a:ext cx="4084874" cy="4114800"/>
          </a:xfrm>
          <a:custGeom>
            <a:avLst/>
            <a:gdLst/>
            <a:ahLst/>
            <a:cxnLst/>
            <a:rect l="l" t="t" r="r" b="b"/>
            <a:pathLst>
              <a:path w="4084874" h="4114800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2224" y="5003957"/>
            <a:ext cx="3799310" cy="448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69"/>
              </a:lnSpc>
            </a:pPr>
            <a:r>
              <a:rPr lang="en-US" sz="8549">
                <a:solidFill>
                  <a:srgbClr val="B54347"/>
                </a:solidFill>
                <a:latin typeface="Agbalumo"/>
                <a:ea typeface="Agbalumo"/>
                <a:cs typeface="Agbalumo"/>
                <a:sym typeface="Agbalumo"/>
              </a:rPr>
              <a:t>HƯỚNG PHÁT TRIỂN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92737" y="3696020"/>
            <a:ext cx="13843696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Phát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triển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tính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năng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đánh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giá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Cho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phép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đọc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bình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luận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xếp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hạng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60781" y="6110432"/>
            <a:ext cx="13473654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Tối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ưu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giao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diện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trên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toàn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bộ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thiết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bị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Responsive layout,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cải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tiến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tốc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độ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tải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thêm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hiệu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ứng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hiển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thị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68156" y="4944177"/>
            <a:ext cx="13747523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Hỗ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trợ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đăng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nhập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bằng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mạng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xã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hội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Google, Facebook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để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thuận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tiện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cho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82904" y="1283908"/>
            <a:ext cx="13473654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Kết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nối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cơ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sở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dữ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liệu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thật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Lưu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trữ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thông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đơn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hàng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dùng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một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cách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tự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động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60781" y="7251481"/>
            <a:ext cx="13454576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Mở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rộng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danh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mục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số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lượng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Đáp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ứng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nhu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cầu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đa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dạng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: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học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sinh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sinh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viên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,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người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đi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làm</a:t>
            </a:r>
            <a:endParaRPr lang="en-US" sz="3500" dirty="0">
              <a:solidFill>
                <a:srgbClr val="D75B3F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68156" y="2505953"/>
            <a:ext cx="13101115" cy="1131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Thêm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blog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góc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đánh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giá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sách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→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Tăng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tương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tác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cộng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đồng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và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độ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tin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cậy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sản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 </a:t>
            </a:r>
            <a:r>
              <a:rPr lang="en-US" sz="3500" dirty="0" err="1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phẩm</a:t>
            </a:r>
            <a:r>
              <a:rPr lang="en-US" sz="3500" dirty="0">
                <a:solidFill>
                  <a:srgbClr val="D75B3F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1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0073" y="2533943"/>
            <a:ext cx="15207853" cy="380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4"/>
              </a:lnSpc>
            </a:pPr>
            <a:endParaRPr/>
          </a:p>
          <a:p>
            <a:pPr algn="ctr">
              <a:lnSpc>
                <a:spcPts val="12465"/>
              </a:lnSpc>
            </a:pPr>
            <a:r>
              <a:rPr lang="en-US" sz="8903">
                <a:solidFill>
                  <a:srgbClr val="B5292F"/>
                </a:solidFill>
                <a:latin typeface="Agbalumo"/>
                <a:ea typeface="Agbalumo"/>
                <a:cs typeface="Agbalumo"/>
                <a:sym typeface="Agbalumo"/>
              </a:rPr>
              <a:t>Thank you for your attention!</a:t>
            </a:r>
          </a:p>
          <a:p>
            <a:pPr marL="0" lvl="0" indent="0" algn="ctr">
              <a:lnSpc>
                <a:spcPts val="8954"/>
              </a:lnSpc>
              <a:spcBef>
                <a:spcPct val="0"/>
              </a:spcBef>
            </a:pPr>
            <a:endParaRPr lang="en-US" sz="8903">
              <a:solidFill>
                <a:srgbClr val="B5292F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88227" y="6810706"/>
            <a:ext cx="3065118" cy="3065118"/>
          </a:xfrm>
          <a:custGeom>
            <a:avLst/>
            <a:gdLst/>
            <a:ahLst/>
            <a:cxnLst/>
            <a:rect l="l" t="t" r="r" b="b"/>
            <a:pathLst>
              <a:path w="3065118" h="3065118">
                <a:moveTo>
                  <a:pt x="0" y="0"/>
                </a:moveTo>
                <a:lnTo>
                  <a:pt x="3065118" y="0"/>
                </a:lnTo>
                <a:lnTo>
                  <a:pt x="3065118" y="3065117"/>
                </a:lnTo>
                <a:lnTo>
                  <a:pt x="0" y="3065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1070</Words>
  <Application>Microsoft Office PowerPoint</Application>
  <PresentationFormat>Custom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Asap Condensed</vt:lpstr>
      <vt:lpstr>Calibri</vt:lpstr>
      <vt:lpstr>Bahnschrift Light SemiCondensed</vt:lpstr>
      <vt:lpstr>Arial</vt:lpstr>
      <vt:lpstr>Agbalumo</vt:lpstr>
      <vt:lpstr>Alegreya Bold</vt:lpstr>
      <vt:lpstr>Faustina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WEB</dc:title>
  <dc:creator>Ng. Hynnie</dc:creator>
  <cp:lastModifiedBy>Ng. Hynnie</cp:lastModifiedBy>
  <cp:revision>3</cp:revision>
  <dcterms:created xsi:type="dcterms:W3CDTF">2006-08-16T00:00:00Z</dcterms:created>
  <dcterms:modified xsi:type="dcterms:W3CDTF">2026-01-04T15:06:29Z</dcterms:modified>
  <dc:identifier>DAGqrttuqN4</dc:identifier>
</cp:coreProperties>
</file>